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0116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28600"/>
          <a:lstStyle/>
          <a:p>
            <a:pPr algn="ctr">
              <a:defRPr sz="1100" b="1">
                <a:solidFill>
                  <a:srgbClr val="93C5FD"/>
                </a:solidFill>
                <a:latin typeface="Calibri"/>
              </a:defRPr>
            </a:pPr>
            <a:r>
              <a:t>CS 106 / SOFTWARE ENGINEERING 1  •  FINAL DEFENSE &amp; DEMO</a:t>
            </a:r>
          </a:p>
          <a:p>
            <a:pPr>
              <a:spcBef>
                <a:spcPts val="400"/>
              </a:spcBef>
              <a:defRPr sz="3200" b="1">
                <a:solidFill>
                  <a:srgbClr val="FFFFFF"/>
                </a:solidFill>
                <a:latin typeface="Arial"/>
              </a:defRPr>
            </a:pPr>
            <a:r>
              <a:t>LaundryCare Management System</a:t>
            </a:r>
          </a:p>
          <a:p>
            <a:pPr>
              <a:spcBef>
                <a:spcPts val="400"/>
              </a:spcBef>
              <a:defRPr sz="1400">
                <a:solidFill>
                  <a:srgbClr val="E0E7FF"/>
                </a:solidFill>
                <a:latin typeface="Calibri"/>
              </a:defRPr>
            </a:pPr>
            <a:r>
              <a:t>Automated Doorstep Laundry ERP &amp; Sector-Based Logistics for Barangay Base Camp, Maramag, Bukidnon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697480"/>
            <a:ext cx="6858000" cy="3657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spcAft>
                <a:spcPts val="1000"/>
              </a:spcAft>
              <a:defRPr sz="1400" b="1">
                <a:solidFill>
                  <a:srgbClr val="1E3A8A"/>
                </a:solidFill>
                <a:latin typeface="Arial"/>
              </a:defRPr>
            </a:pPr>
            <a:r>
              <a:t>PROJECT TEAM &amp; CODEBASE OWNERSHIP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•  John Michael Bretaña — Lead Architect &amp; Project Manager</a:t>
            </a:r>
          </a:p>
          <a:p>
            <a:pPr>
              <a:spcAft>
                <a:spcPts val="400"/>
              </a:spcAft>
              <a:defRPr sz="1100">
                <a:solidFill>
                  <a:srgbClr val="475569"/>
                </a:solidFill>
                <a:latin typeface="Calibri"/>
              </a:defRPr>
            </a:pPr>
            <a:r>
              <a:t>    Domain: Core Architecture, RBAC, Cloud Deployment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•  Hazil Enoc — Store Cashier &amp; CRM Lead</a:t>
            </a:r>
          </a:p>
          <a:p>
            <a:pPr>
              <a:spcAft>
                <a:spcPts val="400"/>
              </a:spcAft>
              <a:defRPr sz="1100">
                <a:solidFill>
                  <a:srgbClr val="475569"/>
                </a:solidFill>
                <a:latin typeface="Calibri"/>
              </a:defRPr>
            </a:pPr>
            <a:r>
              <a:t>    Domain: Customer Loyalty Engine, Digital Weighing &amp; CRM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•  Mark Ephraim Nicor — Laundry Operator &amp; Courier 3</a:t>
            </a:r>
          </a:p>
          <a:p>
            <a:pPr>
              <a:spcAft>
                <a:spcPts val="400"/>
              </a:spcAft>
              <a:defRPr sz="1100">
                <a:solidFill>
                  <a:srgbClr val="475569"/>
                </a:solidFill>
                <a:latin typeface="Calibri"/>
              </a:defRPr>
            </a:pPr>
            <a:r>
              <a:t>    Domain: Wash Hub Telemetry, Slot Densities &amp; Zone 3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•  Tristan Dave M. Plaza — Mobile UX Lead &amp; Courier 1</a:t>
            </a:r>
          </a:p>
          <a:p>
            <a:pPr>
              <a:spcAft>
                <a:spcPts val="400"/>
              </a:spcAft>
              <a:defRPr sz="1100">
                <a:solidFill>
                  <a:srgbClr val="475569"/>
                </a:solidFill>
                <a:latin typeface="Calibri"/>
              </a:defRPr>
            </a:pPr>
            <a:r>
              <a:t>    Domain: Rider Mobile Web App, Touch Signature &amp; Zone 1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•  Marvin Oclarino — Financial Lead &amp; Courier 2</a:t>
            </a:r>
          </a:p>
          <a:p>
            <a:pPr>
              <a:spcAft>
                <a:spcPts val="400"/>
              </a:spcAft>
              <a:defRPr sz="1100">
                <a:solidFill>
                  <a:srgbClr val="475569"/>
                </a:solidFill>
                <a:latin typeface="Calibri"/>
              </a:defRPr>
            </a:pPr>
            <a:r>
              <a:t>    Domain: Doorstep Change Calculator, Thermal POS &amp; Zone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2697480"/>
            <a:ext cx="3639312" cy="365760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spcAft>
                <a:spcPts val="1000"/>
              </a:spcAft>
              <a:defRPr sz="1400" b="1">
                <a:solidFill>
                  <a:srgbClr val="1E3A8A"/>
                </a:solidFill>
                <a:latin typeface="Arial"/>
              </a:defRPr>
            </a:pPr>
            <a:r>
              <a:t>KEY PROJECT HIGHLIGHTS</a:t>
            </a:r>
          </a:p>
          <a:p>
            <a:pPr>
              <a:defRPr sz="1200" b="1">
                <a:solidFill>
                  <a:srgbClr val="059669"/>
                </a:solidFill>
                <a:latin typeface="Calibri"/>
              </a:defRPr>
            </a:pPr>
            <a:r>
              <a:t>✅ 78 / 78 Passing Tests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Calibri"/>
              </a:defRPr>
            </a:pPr>
            <a:r>
              <a:t>100% green automated Pytest test suite covering RBAC, arithmetic, and failure paths.</a:t>
            </a:r>
          </a:p>
          <a:p>
            <a:pPr>
              <a:defRPr sz="1200" b="1">
                <a:solidFill>
                  <a:srgbClr val="2563EB"/>
                </a:solidFill>
                <a:latin typeface="Calibri"/>
              </a:defRPr>
            </a:pPr>
            <a:r>
              <a:t>🌐 Live Cloud Deployment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Calibri"/>
              </a:defRPr>
            </a:pPr>
            <a:r>
              <a:t>Hosted on Render PaaS (Linux Gunicorn WSGI) with offline local hot standby.</a:t>
            </a:r>
          </a:p>
          <a:p>
            <a:pPr>
              <a:defRPr sz="1200" b="1">
                <a:solidFill>
                  <a:srgbClr val="2563EB"/>
                </a:solidFill>
                <a:latin typeface="Calibri"/>
              </a:defRPr>
            </a:pPr>
            <a:r>
              <a:t>🛵 100% Motorcycle Fleet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Calibri"/>
              </a:defRPr>
            </a:pPr>
            <a:r>
              <a:t>Exclusively customized for Barangay Base Camp sectors with 3 dedicated riders.</a:t>
            </a:r>
          </a:p>
          <a:p>
            <a:pPr>
              <a:defRPr sz="1200" b="1">
                <a:solidFill>
                  <a:srgbClr val="2563EB"/>
                </a:solidFill>
                <a:latin typeface="Calibri"/>
              </a:defRPr>
            </a:pPr>
            <a:r>
              <a:t>✍️ Paperless Touch Signatures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Calibri"/>
              </a:defRPr>
            </a:pPr>
            <a:r>
              <a:t>HTML5 Canvas touch signatures for verifiable proof of delivery.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228600" bIns="91440"/>
          <a:lstStyle/>
          <a:p>
            <a:pPr algn="ctr">
              <a:defRPr sz="1100" b="1">
                <a:solidFill>
                  <a:srgbClr val="2563EB"/>
                </a:solidFill>
                <a:latin typeface="Calibri"/>
              </a:defRPr>
            </a:pPr>
            <a:r>
              <a:t>PROJECT INTRODUCTION   •   PRESENTER: JOHN MICHAEL BRETAÑA (LEAD ARCHITECT &amp; MANAGER)</a:t>
            </a:r>
          </a:p>
          <a:p>
            <a:pPr>
              <a:spcBef>
                <a:spcPts val="300"/>
              </a:spcBef>
              <a:defRPr sz="2000" b="1">
                <a:solidFill>
                  <a:srgbClr val="0F172A"/>
                </a:solidFill>
                <a:latin typeface="Arial"/>
              </a:defRPr>
            </a:pPr>
            <a:r>
              <a:t>System Introduction &amp; Project Overview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266944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🌟  What is LaundryCare?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Core Purpose: A full-stack, cloud-deployed web ERP and doorstep logistics system engineered specifically for Barangay Base Camp, Maramag, Bukidnon.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Digital Transformation: Replaces chaotic manual pen-and-paper booking with an automated, transparent, and paperless operational pipeline.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Community Context: Tailored for Base Camp households, dormitories, and busy families who lack time or washing equipment.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End-to-End Scope: Integrates customers, store cashiers, laundry machine operators, and motorcycle couriers into one centralized platform.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Cloud Availability: Deployed live on Render PaaS (Linux Gunicorn WSGI) with local offline hot standby.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81344" y="1600200"/>
            <a:ext cx="5276088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🏛️  The 3 Core Operational Pillars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1. Public Customer Portal (Zero Login): 60-second doorstep pickup booking and real-time 5-stage tracking with GCash payment references.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2. Centralized Store Operations: Digital scale intake, automated per-kilo pricing, dynamic loyalty tiering, and wash plant machine telemetry.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3. Sector-Based Motorcycle Fleet: 100% motorcycle courier circuits across Base Camp with 1-tap GPS routing and touch signature proof-of-delivery.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4. Software Quality Standards: Backed by 78 / 78 passing automated unit, integration, and adversarial tests (100% green suite).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228600" bIns="91440"/>
          <a:lstStyle/>
          <a:p>
            <a:pPr algn="ctr">
              <a:defRPr sz="1100" b="1">
                <a:solidFill>
                  <a:srgbClr val="2563EB"/>
                </a:solidFill>
                <a:latin typeface="Calibri"/>
              </a:defRPr>
            </a:pPr>
            <a:r>
              <a:t>PHASE 1: PROBLEM DEFINITION   •   PRESENTER: HAZIL ENOC (STORE CASHIER &amp; CRM LEAD)</a:t>
            </a:r>
          </a:p>
          <a:p>
            <a:pPr>
              <a:spcBef>
                <a:spcPts val="300"/>
              </a:spcBef>
              <a:defRPr sz="2000" b="1">
                <a:solidFill>
                  <a:srgbClr val="0F172A"/>
                </a:solidFill>
                <a:latin typeface="Arial"/>
              </a:defRPr>
            </a:pPr>
            <a:r>
              <a:t>The Challenge: Bottlenecks in Traditional Laundry Shops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2542032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🏷️  Lost Paper Slips &amp; Tags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Physical paper receipts get torn, wet, or lost on the shop floor.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Manual identification tags lead to misplaced garments and bag mix-ups.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Zero permanent digital audit trail for customer service histories.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56432" y="1600200"/>
            <a:ext cx="2542032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👀  Customer Blindspots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Clients have zero visibility into washing and drying stages.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Students and busy families repeatedly call staff asking if laundry is ready.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No digital notifications when riders are en route for collection.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1600200"/>
            <a:ext cx="2542032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🛵  Uncoordinated Couriers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Riders receive unstructured phone calls with unclear landmarks.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No sector planning leads to overlapping routes and wasted fuel.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Peak intake hours overwhelm couriers without scheduling density checks.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06256" y="1600200"/>
            <a:ext cx="2542032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🧮  Doorstep Math Errors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Couriers mentally compute per-kilogram rates and cash change on the road.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Cashier end-of-day reconciliation deficits from arithmetic mistakes.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Lack of digital Proof of Delivery (POD) signatures causes disputes.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228600" bIns="91440"/>
          <a:lstStyle/>
          <a:p>
            <a:pPr algn="ctr">
              <a:defRPr sz="1100" b="1">
                <a:solidFill>
                  <a:srgbClr val="2563EB"/>
                </a:solidFill>
                <a:latin typeface="Calibri"/>
              </a:defRPr>
            </a:pPr>
            <a:r>
              <a:t>PHASE 2: SOLUTION ARCHITECTURE   •   PRESENTER: MARK EPHRAIM NICOR (LAUNDRY OPERATOR &amp; COURIER 3)</a:t>
            </a:r>
          </a:p>
          <a:p>
            <a:pPr>
              <a:spcBef>
                <a:spcPts val="300"/>
              </a:spcBef>
              <a:defRPr sz="2000" b="1">
                <a:solidFill>
                  <a:srgbClr val="0F172A"/>
                </a:solidFill>
                <a:latin typeface="Arial"/>
              </a:defRPr>
            </a:pPr>
            <a:r>
              <a:t>The LaundryCare Platform: 3 Unified Portals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3447288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📱  Public Customer Portal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Zero Login Required: Frictionless access for dormitory students and residents.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60-Second Online Booking (/book-pickup): Sector-based pickup scheduling.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Live Real-Time Tracker (/track): 5-step progress bar from intake to doorstep drop-off.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Transparent Payments: Electronic GCash/Maya reference modal.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61688" y="1600200"/>
            <a:ext cx="3447288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🧺  Cashier &amp; Wash Operations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Customer CRM Directory (/customers-page): Lifetime spend &amp; loyalty tier tracking.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Digital Scale Intake (/laundry-orders-page): Auto-pricing calculation (Weight x Rate).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Wash Hub Monitor (/pickup-schedules-page): Live capacity telemetry for 6 washers &amp; 4 dryers.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Slot Bottleneck Detector: Flags high intake density (&gt;4 bookings/slot).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91856" y="1600200"/>
            <a:ext cx="3447288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🛵  Rider Mobile Web App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Field Courier Interface (/rider-app): Optimized for motorcycle smartphone mounts.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1-Tap GPS Navigation: Direct shortcuts into Google Maps &amp; Waze.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Quick Client Calling: 1-tap phone dialer for arrival coordination.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HTML5 Signature Canvas: Paperless touch signature handover.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228600" bIns="91440"/>
          <a:lstStyle/>
          <a:p>
            <a:pPr algn="ctr">
              <a:defRPr sz="1100" b="1">
                <a:solidFill>
                  <a:srgbClr val="2563EB"/>
                </a:solidFill>
                <a:latin typeface="Calibri"/>
              </a:defRPr>
            </a:pPr>
            <a:r>
              <a:t>PHASE 3: SOFTWARE ENGINEERING &amp; QA   •   PRESENTER: TRISTAN DAVE M. PLAZA (MOBILE UX LEAD &amp; COURIER 1)</a:t>
            </a:r>
          </a:p>
          <a:p>
            <a:pPr>
              <a:spcBef>
                <a:spcPts val="300"/>
              </a:spcBef>
              <a:defRPr sz="2000" b="1">
                <a:solidFill>
                  <a:srgbClr val="0F172A"/>
                </a:solidFill>
                <a:latin typeface="Arial"/>
              </a:defRPr>
            </a:pPr>
            <a:r>
              <a:t>Engineering Integrity: Architecture &amp; Adversarial Hardening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266944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🏗️  Modular System Architecture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Backend Framework: Python 3 + Flask using 6 decoupled domain Blueprints (Customer, Order, Pickup, Delivery, Payment, Portal).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Merge Conflict Prevention: Team members worked on separate controllers concurrently without Git collisions.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Database Architecture: SQLite 3 with enforced foreign keys (PRAGMA foreign_keys = ON) and automatic cold-start migrations.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Dual-Mode Error Handler: Returns JSON for AJAX fetch calls and branded HTML for browser navigation (zero stack trace leakage).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Role-Based Access Control: Decorator checks session roles (Admin, Staff, Rider) preventing privilege escalation.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81344" y="1600200"/>
            <a:ext cx="5276088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🛡️  Adversarial Security &amp; Test Evidence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Stored XSS Sanitization (BUG-001): Regex-based tag stripper (strip_html_tags()) purges &lt;script&gt; and &lt;style&gt; tags before database storage.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Physical Capacity Ceiling (BUG-002): Caps single order weight at 150.0 kg. Oversized loads return HTTP 422 commercial warning.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Historical Date Prevention (BUG-003): Dynamic min date attribute and server-side checks block bookings in the past.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Modal Freezing Resolution (BUG-004): Universal Escape key event handler cleanly dismisses dialogs across all browsers.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78 / 78 Passing Pytest Tests: 100% green suite validating RBAC, arithmetic precision, and adversarial boundary limits.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 rIns="228600" bIns="91440"/>
          <a:lstStyle/>
          <a:p>
            <a:pPr algn="ctr">
              <a:defRPr sz="1100" b="1">
                <a:solidFill>
                  <a:srgbClr val="2563EB"/>
                </a:solidFill>
                <a:latin typeface="Calibri"/>
              </a:defRPr>
            </a:pPr>
            <a:r>
              <a:t>PHASE 4: OPERATIONS &amp; DEMONSTRATION   •   PRESENTER: MARVIN OCLARINO (FINANCIAL SETTLEMENT LEAD &amp; COURIER 2)</a:t>
            </a:r>
          </a:p>
          <a:p>
            <a:pPr>
              <a:spcBef>
                <a:spcPts val="300"/>
              </a:spcBef>
              <a:defRPr sz="2000" b="1">
                <a:solidFill>
                  <a:srgbClr val="0F172A"/>
                </a:solidFill>
                <a:latin typeface="Arial"/>
              </a:defRPr>
            </a:pPr>
            <a:r>
              <a:t>Motorcycle Logistics, Financial Settlement &amp; Live Demo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266944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🗺️  Base Camp Motorcycle Logistics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Exclusive Barangay Coverage: Central washing hub located at Base Camp Proper.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Zone 1 (Proper &amp; Commercial Junction): Dispatched to Tristan Dave Plaza (Motorcycle 1).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Zone 2 (Sayre Highway Corridor &amp; Strip): Dispatched to Marvin Oclarino (Motorcycle 2).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Zone 3 (Puroks 1 to 5 Residential): Dispatched to Mark Ephraim Nicor (Motorcycle 3).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Smart Sector Dispatch: Booking engine automatically resolves addresses into courier assignments.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81344" y="1600200"/>
            <a:ext cx="5276088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💳  Doorstep Financial POS Settlement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Courier Cash Change Helper: Real-time calculation displays exact change in green or a bold red alert (Short: ₱XX.XX).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80mm Thermal Bluetooth Print: POS receipt modal formatted for thermal paper with zero-dependency inline SVG Code128 barcode.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Multi-Channel Breakdown: Tracks Cash, GCash, and Bank Transfer with zero-division safety protection.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Verifiable Proof of Delivery: Base64 touch signature stored directly with the delivery record.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120640"/>
            <a:ext cx="10728655" cy="11887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/>
          <a:lstStyle/>
          <a:p>
            <a:pPr algn="ctr">
              <a:defRPr sz="1300" b="1">
                <a:solidFill>
                  <a:srgbClr val="059669"/>
                </a:solidFill>
                <a:latin typeface="Arial"/>
              </a:defRPr>
            </a:pPr>
            <a:r>
              <a:t>READY FOR LIVE DEMONSTRATION  •  TRANSITIONING TO BROWSER</a:t>
            </a:r>
          </a:p>
          <a:p>
            <a:pPr>
              <a:spcBef>
                <a:spcPts val="300"/>
              </a:spcBef>
              <a:defRPr sz="1100">
                <a:solidFill>
                  <a:srgbClr val="0F172A"/>
                </a:solidFill>
                <a:latin typeface="Calibri"/>
              </a:defRPr>
            </a:pPr>
            <a:r>
              <a:t>Live Demo Steps: 1. Public Booking  ➔  2. Scale Weighing &amp; Pricing  ➔  3. Wash Hub Telemetry  ➔  4. Customer Tracker  ➔  5. Mobile Touch Signature Handover  ➔  6. Thermal POS Receipt &amp; Change Helper.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
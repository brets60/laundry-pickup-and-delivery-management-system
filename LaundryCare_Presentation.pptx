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0116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defRPr sz="1100" b="1">
                <a:solidFill>
                  <a:srgbClr val="93C5FD"/>
                </a:solidFill>
                <a:latin typeface="Calibri"/>
              </a:defRPr>
            </a:pPr>
            <a:r>
              <a:t>CS 106 / SOFTWARE ENGINEERING 1  •  FINAL SYSTEM DEFENSE &amp; LIVE DEMO</a:t>
            </a:r>
          </a:p>
          <a:p>
            <a:pPr>
              <a:spcBef>
                <a:spcPts val="400"/>
              </a:spcBef>
              <a:defRPr sz="3200" b="1">
                <a:solidFill>
                  <a:srgbClr val="FFFFFF"/>
                </a:solidFill>
                <a:latin typeface="Arial"/>
              </a:defRPr>
            </a:pPr>
            <a:r>
              <a:t>LaundryCare Management System</a:t>
            </a:r>
          </a:p>
          <a:p>
            <a:pPr>
              <a:spcBef>
                <a:spcPts val="400"/>
              </a:spcBef>
              <a:defRPr sz="1400">
                <a:solidFill>
                  <a:srgbClr val="E0E7FF"/>
                </a:solidFill>
                <a:latin typeface="Calibri"/>
              </a:defRPr>
            </a:pPr>
            <a:r>
              <a:t>Automated Doorstep Laundry ERP &amp; Sector-Based Logistics for Barangay Base Camp, Maramag, Bukidnon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97480"/>
            <a:ext cx="68580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PROJECT TEAM &amp; CODEBASE OWNERSHIP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•  John Michael Bretaña — Lead Architect &amp; Branch Manager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  Domain: Core Architecture, RBAC, Cloud Deployment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•  Hazil Enoc — Store Cashier &amp; CRM Lead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  Domain: Customer Loyalty Engine, Digital Weighing &amp; POS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•  Mark Ephraim Nicor — Laundry Operator &amp; Courier 3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  Domain: Wash Hub Telemetry, Machine Densities &amp; Zone 3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•  Tristan Dave M. Plaza — Mobile UX Lead &amp; Courier 1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  Domain: Rider Mobile Web App, Touch Signature &amp; Zone 1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•  Marvin Oclarino — Financial Lead &amp; Courier 2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  Domain: Doorstep Change Calculator, Thermal POS &amp; Zone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2697480"/>
            <a:ext cx="3639312" cy="36576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KEY PROJECT HIGHLIGHTS</a:t>
            </a:r>
          </a:p>
          <a:p>
            <a:pPr>
              <a:defRPr sz="1200" b="1">
                <a:solidFill>
                  <a:srgbClr val="059669"/>
                </a:solidFill>
                <a:latin typeface="Calibri"/>
              </a:defRPr>
            </a:pPr>
            <a:r>
              <a:t>✅ 79 / 79 Passing Tests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100% green automated Pytest test suite covering RBAC, arithmetic, and failure paths.</a:t>
            </a:r>
          </a:p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🌐 Live Cloud Deployment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Hosted on Render PaaS (Linux Gunicorn WSGI) with offline local hot standby.</a:t>
            </a:r>
          </a:p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🛵 100% Bajaj Motorcycle Fleet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Exclusively customized for Barangay Base Camp sectors with 3 dedicated riders.</a:t>
            </a:r>
          </a:p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✍️ Paperless Touch Signatures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HTML5 Canvas touch signatures for verifiable proof of delivery.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 bIns="91440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PHASE 1: PROBLEM DEFINITION   •   PRESENTER: HAZIL ENOC (STORE CASHIER &amp; CRM LEAD)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  <a:latin typeface="Arial"/>
              </a:defRPr>
            </a:pPr>
            <a:r>
              <a:t>The Challenge: Operational Gaps in Traditional Laundry Shops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254203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🏷️  Lost Paper Slips &amp; Tags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Physical paper receipts get torn, wet, or lost on the shop floor.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Manual identification tags lead to misplaced garments and bag mix-ups.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Zero permanent digital audit trail for customer service histories.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600200"/>
            <a:ext cx="254203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👀  Customer Blindspots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Clients have zero visibility into washing and drying stages.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Students and busy families repeatedly call staff asking if laundry is ready.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No digital notifications when riders are en route for collection.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600200"/>
            <a:ext cx="254203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🛵  Uncoordinated Couriers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Riders receive unstructured phone calls with unclear landmarks.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No sector planning leads to overlapping routes and wasted fuel.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Peak intake hours overwhelm couriers without scheduling density checks.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06256" y="1600200"/>
            <a:ext cx="254203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🧮  Doorstep Math Errors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Couriers mentally compute per-kilogram rates and cash change on the road.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Cashier end-of-day reconciliation deficits from arithmetic mistakes.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Lack of digital Proof of Delivery (POD) signatures causes disputes.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 bIns="91440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PHASE 2: SOLUTION ARCHITECTURE   •   PRESENTER: MARK EPHRAIM NICOR (LAUNDRY OPERATOR &amp; COURIER 3)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  <a:latin typeface="Arial"/>
              </a:defRPr>
            </a:pPr>
            <a:r>
              <a:t>The LaundryCare Solution: 3 Unified Portals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447288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📱  Public Customer Portal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Zero Login Required: Frictionless access for dormitory students and residents.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60-Second Online Booking (/book-pickup): Sector-based pickup scheduling.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Live Real-Time Tracker (/track): 5-step progress bar from intake to doorstep drop-off.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Transparent Payments: Electronic GCash/Maya reference modal.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61688" y="1600200"/>
            <a:ext cx="3447288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🧺  Cashier &amp; Wash Operations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Customer CRM Directory (/customers-page): Lifetime spend &amp; loyalty tier tracking.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Digital Scale Intake (/laundry-orders-page): Auto-pricing calculation (Weight x Rate).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Wash Hub Monitor (/pickup-schedules-page): Live capacity telemetry for 6 washers &amp; 4 dryers.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Payments &amp; Settlement (/payments-page): Walk-in settlement &amp; POS payment recording.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91856" y="1600200"/>
            <a:ext cx="3447288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🛵  Rider Mobile Web App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Field Courier Interface (/rider-app): Optimized for motorcycle smartphone mounts.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1-Tap GPS Navigation: Direct shortcuts into Google Maps &amp; Waze.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Quick Client Calling: 1-tap phone dialer for arrival coordination.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HTML5 Signature Canvas: Paperless touch signature handover.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 bIns="91440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PHASE 3: SOFTWARE ENGINEERING &amp; QA   •   PRESENTER: TRISTAN DAVE M. PLAZA (MOBILE UX LEAD &amp; COURIER 1)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  <a:latin typeface="Arial"/>
              </a:defRPr>
            </a:pPr>
            <a:r>
              <a:t>Engineering Integrity: Architecture, RBAC &amp; Test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66944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🏗️  Modular System Architecture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Backend Framework: Python 3 + Flask using 6 decoupled domain Blueprints (Customer, Order, Pickup, Delivery, Payment, Portal).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Merge Conflict Prevention: Team members worked on separate controllers concurrently without Git collisions.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Database Architecture: SQLite 3 with enforced foreign keys (PRAGMA foreign_keys = ON) and automatic cold-start migrations.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Dual-Mode Error Handler: Returns JSON for AJAX fetch calls and branded HTML for browser navigation (zero stack trace leakage).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Role-Based Access Control: Decorator checks session roles (Admin, Staff, Rider) preventing privilege escalation.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600200"/>
            <a:ext cx="5276088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🛡️  Adversarial Security &amp; Test Evidence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Stored XSS Sanitization (BUG-001): Regex-based tag stripper (strip_html_tags()) purges &lt;script&gt; and &lt;style&gt; tags before database storage.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Physical Capacity Ceiling (BUG-002): Caps single order weight at 150.0 kg. Oversized loads return HTTP 422 commercial warning.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Historical Date Prevention (BUG-003): Dynamic min date attribute and server-side checks block bookings in the past.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Modal Freezing Resolution (BUG-004): Universal Escape key event handler cleanly dismisses dialogs across all browsers.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79 / 79 Passing Pytest Tests: 100% green suite validating RBAC, arithmetic precision, and adversarial boundary limits.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 bIns="91440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PHASE 4: OPERATIONS &amp; LIVE DEMONSTRATION   •   PRESENTER: MARVIN OCLARINO (FINANCIAL SETTLEMENT LEAD &amp; COURIER 2)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  <a:latin typeface="Arial"/>
              </a:defRPr>
            </a:pPr>
            <a:r>
              <a:t>Motorcycle Logistics, POS Settlement &amp; Live System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66944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🗺️  Base Camp Bajaj Motorcycle Logistics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Exclusive Barangay Coverage: Central washing hub located at Base Camp Proper.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Zone 1 (Proper &amp; Commercial Junction): Dispatched to Tristan Dave Plaza (Bajaj Moto 1).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Zone 2 (Sayre Highway Corridor &amp; Strip): Dispatched to Marvin Oclarino (Bajaj Moto 2).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Zone 3 (Puroks 1 to 5 Residential): Dispatched to Mark Ephraim Nicor (Bajaj Moto 3).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Smart Sector Dispatch: Booking engine automatically resolves addresses into courier assignments.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600200"/>
            <a:ext cx="5276088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💳  Doorstep Financial POS &amp; Contact Hub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Courier Cash Change Helper: Real-time calculation displays exact change in green or a bold red alert (Short: ₱XX.XX).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80mm Thermal Bluetooth Print: POS receipt modal formatted for thermal paper with zero-dependency inline SVG Code128 barcode.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Customer Hotline &amp; Socials: Official Hotline 0906-188-8611 • Store Hours: 8:00 AM - 4:30 PM (Mon-Sat).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Official Facebook Page: Direct integration to https://www.facebook.com/LaundryCare.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120640"/>
            <a:ext cx="10728655" cy="11887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sz="1300" b="1">
                <a:solidFill>
                  <a:srgbClr val="059669"/>
                </a:solidFill>
                <a:latin typeface="Arial"/>
              </a:defRPr>
            </a:pPr>
            <a:r>
              <a:t>LIVE SYSTEM DEMONSTRATION WORKFLOW  •  TRANSITIONING TO APPLICATION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Demo Steps: 1. Public 60s Booking (/book-pickup)  ➔  2. Scale Weighing &amp; Pricing (/laundry-orders-page)  ➔  3. Wash Hub Telemetry (/pickup-schedules-page)  ➔  4. Customer Tracker (/track)  ➔  5. Mobile Courier Touch Signature (/rider-app)  ➔  6. Thermal POS Receipt &amp; Payment Settlement (/payments-page).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